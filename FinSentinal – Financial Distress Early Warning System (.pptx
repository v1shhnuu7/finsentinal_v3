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4" r:id="rId15"/>
    <p:sldId id="283" r:id="rId16"/>
    <p:sldId id="282" r:id="rId17"/>
    <p:sldId id="281" r:id="rId18"/>
    <p:sldId id="285" r:id="rId19"/>
    <p:sldId id="280" r:id="rId20"/>
    <p:sldId id="269" r:id="rId21"/>
    <p:sldId id="270" r:id="rId22"/>
    <p:sldId id="271" r:id="rId23"/>
    <p:sldId id="272" r:id="rId24"/>
    <p:sldId id="275" r:id="rId25"/>
    <p:sldId id="276" r:id="rId26"/>
    <p:sldId id="277" r:id="rId27"/>
    <p:sldId id="278" r:id="rId28"/>
    <p:sldId id="279" r:id="rId29"/>
    <p:sldId id="273" r:id="rId30"/>
    <p:sldId id="274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D13137-81CC-4252-81E0-218A6D4B32E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81B09-7D33-4169-AF1D-A3409FBFD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5362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81B09-7D33-4169-AF1D-A3409FBFD41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31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A62FF-ABA0-4026-B85E-236117B6DBBA}" type="datetime1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304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5854-2150-41A9-ADEA-99B905C5F004}" type="datetime1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167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CF12-9449-42AB-8887-7CFC376EBC89}" type="datetime1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915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23699-6C76-4B6E-9E96-0923C4010ECE}" type="datetime1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089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9A45-A668-46C7-9003-89E4CECE5CBA}" type="datetime1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61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B53B-0FEF-424D-9D87-C11E9AED0EA9}" type="datetime1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884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A638-AFF8-4757-B912-809C666B496C}" type="datetime1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238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299FF-7CB5-458A-959E-AE6A3A08E533}" type="datetime1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932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667D-442C-46E6-913E-CF2A4A479624}" type="datetime1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304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F2BA9-9D3C-4C49-A95B-2A286BD76D14}" type="datetime1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057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E2A0-4017-4BA5-8A83-6B0906BC0E11}" type="datetime1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8701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F93CD-4C37-437D-8F28-7815CF1C7F4D}" type="datetime1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460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71CD8-94BC-4F75-8CF1-6AC48577254C}" type="datetime1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28622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A209F-F6E1-4CEE-AF4B-6D3C3F925984}" type="datetime1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370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B85EF-BBB3-41E9-A30C-C469C069688F}" type="datetime1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8318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DE76-3D8E-4608-82E7-6ADC55F24BFF}" type="datetime1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889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C7604-12A8-4731-B731-D73D14852554}" type="datetime1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33E5ED7-7D55-4992-A695-485D0D7E2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140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E8875-4659-DFEE-D4D8-72528D7462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1873949"/>
            <a:ext cx="7766936" cy="1646302"/>
          </a:xfrm>
        </p:spPr>
        <p:txBody>
          <a:bodyPr/>
          <a:lstStyle/>
          <a:p>
            <a:pPr algn="ctr"/>
            <a:r>
              <a:rPr lang="en-GB" dirty="0"/>
              <a:t>FinSentinal – Financial Distress Early Warning System (FDEWS)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896413-91D6-91B4-0C43-9CF5EA63E5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3" y="4048009"/>
            <a:ext cx="7766936" cy="1096899"/>
          </a:xfrm>
        </p:spPr>
        <p:txBody>
          <a:bodyPr>
            <a:normAutofit lnSpcReduction="10000"/>
          </a:bodyPr>
          <a:lstStyle/>
          <a:p>
            <a:pPr algn="ctr"/>
            <a:r>
              <a:rPr lang="en-GB" dirty="0"/>
              <a:t>Name: SriVishnu Pejathaya</a:t>
            </a:r>
          </a:p>
          <a:p>
            <a:pPr algn="ctr"/>
            <a:r>
              <a:rPr lang="en-GB" dirty="0"/>
              <a:t>USN: 4SO24MC102</a:t>
            </a:r>
          </a:p>
          <a:p>
            <a:pPr algn="ctr"/>
            <a:r>
              <a:rPr lang="en-GB" dirty="0"/>
              <a:t>3</a:t>
            </a:r>
            <a:r>
              <a:rPr lang="en-GB" baseline="30000" dirty="0"/>
              <a:t>rd</a:t>
            </a:r>
            <a:r>
              <a:rPr lang="en-GB" dirty="0"/>
              <a:t> Semester MCA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DD2E9A-3D13-6426-D1B6-83FB6D977E4D}"/>
              </a:ext>
            </a:extLst>
          </p:cNvPr>
          <p:cNvSpPr txBox="1"/>
          <p:nvPr/>
        </p:nvSpPr>
        <p:spPr>
          <a:xfrm>
            <a:off x="1286933" y="5331525"/>
            <a:ext cx="12234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Dr Hareesh B</a:t>
            </a:r>
          </a:p>
          <a:p>
            <a:r>
              <a:rPr lang="en-GB" sz="1400" dirty="0"/>
              <a:t>HOD-MCA</a:t>
            </a:r>
            <a:endParaRPr lang="en-IN" sz="1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DA9B2-3897-A9A8-3E85-2E87EAF78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10016066" cy="365125"/>
          </a:xfrm>
        </p:spPr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1318A-D951-E92F-19A7-4F23B150F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490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0964B-62C1-4C8D-CDD6-8D6C20241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56899-4638-D66C-DE13-DE7FB507B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69523"/>
            <a:ext cx="8596668" cy="3880773"/>
          </a:xfrm>
        </p:spPr>
        <p:txBody>
          <a:bodyPr>
            <a:normAutofit/>
          </a:bodyPr>
          <a:lstStyle/>
          <a:p>
            <a:r>
              <a:rPr lang="en-GB" sz="2000" dirty="0"/>
              <a:t>Corporate financial distress can lead to severe economic losses for investors and institutions.</a:t>
            </a:r>
          </a:p>
          <a:p>
            <a:r>
              <a:rPr lang="en-GB" sz="2000" dirty="0"/>
              <a:t>Early identification enables preventive actions and better risk management.</a:t>
            </a:r>
          </a:p>
          <a:p>
            <a:r>
              <a:rPr lang="en-GB" sz="2000" dirty="0"/>
              <a:t>Traditional models rely on static financial ratios and lack transparency.</a:t>
            </a:r>
          </a:p>
          <a:p>
            <a:r>
              <a:rPr lang="en-GB" sz="2000" dirty="0"/>
              <a:t>FinSentinal addresses these limitations using machine learning and explainable AI.</a:t>
            </a:r>
            <a:endParaRPr lang="en-IN" sz="2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3C74D-347A-40E8-6672-5BD6203FE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3" y="6041362"/>
            <a:ext cx="9033933" cy="365125"/>
          </a:xfrm>
        </p:spPr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D52AB-A80C-606F-A52B-30841FBAA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335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45925-2452-22EA-D6C8-F0F7866C0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Background and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5EC5D-9CCA-3DF1-292E-1400C479B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r>
              <a:rPr lang="en-GB" sz="2000" dirty="0"/>
              <a:t>Increasing volatility in global markets increases financial risk.</a:t>
            </a:r>
          </a:p>
          <a:p>
            <a:r>
              <a:rPr lang="en-GB" sz="2000" dirty="0"/>
              <a:t>Manual financial analysis is time-consuming and subjective.</a:t>
            </a:r>
          </a:p>
          <a:p>
            <a:r>
              <a:rPr lang="en-GB" sz="2000" dirty="0"/>
              <a:t>Automated, data-driven prediction systems improve consistency and speed.</a:t>
            </a:r>
          </a:p>
          <a:p>
            <a:r>
              <a:rPr lang="en-GB" sz="2000" dirty="0"/>
              <a:t>Need for interpretable AI systems in financial decision making</a:t>
            </a:r>
            <a:endParaRPr lang="en-IN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82BB27-4A5D-1C71-CE4C-AF768F59D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3" y="6041362"/>
            <a:ext cx="8932333" cy="365125"/>
          </a:xfrm>
        </p:spPr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A8F6B3-09D3-2FD9-EEC0-4748D2714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190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08643-827D-BCCB-0A29-266EB2CE6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A4E07-39EA-6D99-798D-104099C03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r>
              <a:rPr lang="en-GB" sz="2000" dirty="0"/>
              <a:t>FinSentinal is an AI-powered Financial Distress Early Warning System.</a:t>
            </a:r>
          </a:p>
          <a:p>
            <a:r>
              <a:rPr lang="en-GB" sz="2000" dirty="0"/>
              <a:t>It predicts the probability of corporate financial distress using ML models.</a:t>
            </a:r>
          </a:p>
          <a:p>
            <a:r>
              <a:rPr lang="en-GB" sz="2000" dirty="0"/>
              <a:t>Uses financial ratios and live market data.</a:t>
            </a:r>
          </a:p>
          <a:p>
            <a:r>
              <a:rPr lang="en-GB" sz="2000" dirty="0"/>
              <a:t>Provides SHAP-based explanations for transparency.</a:t>
            </a:r>
          </a:p>
          <a:p>
            <a:r>
              <a:rPr lang="en-GB" sz="2000" dirty="0"/>
              <a:t>Includes interactive dashboard and report generation.</a:t>
            </a:r>
            <a:endParaRPr lang="en-IN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6F59B0-6713-6AB0-89F2-F9AA18C22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3" y="6041362"/>
            <a:ext cx="8864599" cy="365125"/>
          </a:xfrm>
        </p:spPr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70E620-BA12-7070-9FC5-3E1882F03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47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B6E1D-73BE-6177-391A-DA2223EE4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9CE4F-AB28-460F-DB16-33CA3ED95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r>
              <a:rPr lang="en-GB" sz="2000" dirty="0"/>
              <a:t>Predict financial distress at an early stage.</a:t>
            </a:r>
          </a:p>
          <a:p>
            <a:r>
              <a:rPr lang="en-GB" sz="2000" dirty="0"/>
              <a:t>Compute a unified Financial Distress Index (FDI).</a:t>
            </a:r>
          </a:p>
          <a:p>
            <a:r>
              <a:rPr lang="en-GB" sz="2000" dirty="0"/>
              <a:t>Apply Random Forest and </a:t>
            </a:r>
            <a:r>
              <a:rPr lang="en-GB" sz="2000" dirty="0" err="1"/>
              <a:t>XGBoost</a:t>
            </a:r>
            <a:r>
              <a:rPr lang="en-GB" sz="2000" dirty="0"/>
              <a:t> models.</a:t>
            </a:r>
          </a:p>
          <a:p>
            <a:r>
              <a:rPr lang="en-GB" sz="2000" dirty="0"/>
              <a:t>Provide explainable predictions using SHAP.</a:t>
            </a:r>
          </a:p>
          <a:p>
            <a:r>
              <a:rPr lang="en-GB" sz="2000" dirty="0"/>
              <a:t>Support real-time analysis using live financial data.</a:t>
            </a:r>
            <a:endParaRPr lang="en-IN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43542-136F-98C4-DD99-CF686F1C3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8596668" cy="365125"/>
          </a:xfrm>
        </p:spPr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DBF303-F458-A2C3-1864-C03CDBA01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619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BB53A-B59D-7333-74A4-82DD6076F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35B46-472D-DCA8-77DB-10A034027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r>
              <a:rPr lang="en-IN" sz="2000" dirty="0"/>
              <a:t>FDI score computation</a:t>
            </a:r>
          </a:p>
          <a:p>
            <a:r>
              <a:rPr lang="en-GB" sz="2000" dirty="0"/>
              <a:t>Risk classification (Healthy / Moderate / Distressed)</a:t>
            </a:r>
          </a:p>
          <a:p>
            <a:r>
              <a:rPr lang="en-GB" sz="2000" dirty="0"/>
              <a:t>Live data integration (Yahoo Finance)</a:t>
            </a:r>
          </a:p>
          <a:p>
            <a:r>
              <a:rPr lang="en-IN" sz="2000" dirty="0"/>
              <a:t>SHAP feature importance visualization</a:t>
            </a:r>
          </a:p>
          <a:p>
            <a:r>
              <a:rPr lang="en-GB" sz="2000" dirty="0"/>
              <a:t>Interactive dashboard with charts and KPIs</a:t>
            </a:r>
          </a:p>
          <a:p>
            <a:r>
              <a:rPr lang="en-GB" sz="2000" dirty="0"/>
              <a:t>PDF and CSV report export</a:t>
            </a:r>
          </a:p>
          <a:p>
            <a:r>
              <a:rPr lang="en-IN" sz="2000" dirty="0"/>
              <a:t>Prediction history storage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318EC7-E86A-4C49-4033-638082838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3" y="6041362"/>
            <a:ext cx="8678333" cy="365125"/>
          </a:xfrm>
        </p:spPr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C6024-B0A3-F9FB-0542-FA3D1BF50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2502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1255F-21CB-2052-EB03-1FDFB59F4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BCDC4-44D8-29A2-4DEA-5547F6DC0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r>
              <a:rPr lang="en-GB" sz="2000" dirty="0"/>
              <a:t>Data collection (sample + live data)</a:t>
            </a:r>
          </a:p>
          <a:p>
            <a:r>
              <a:rPr lang="en-IN" sz="2000" dirty="0"/>
              <a:t>Data preprocessing and scaling</a:t>
            </a:r>
          </a:p>
          <a:p>
            <a:r>
              <a:rPr lang="en-GB" sz="2000" dirty="0"/>
              <a:t>ML model training and inference</a:t>
            </a:r>
          </a:p>
          <a:p>
            <a:r>
              <a:rPr lang="en-IN" sz="2000" dirty="0"/>
              <a:t>FDI score computation</a:t>
            </a:r>
          </a:p>
          <a:p>
            <a:r>
              <a:rPr lang="en-IN" sz="2000" dirty="0"/>
              <a:t>Explainability using SHAP</a:t>
            </a:r>
          </a:p>
          <a:p>
            <a:r>
              <a:rPr lang="en-IN" sz="2000" dirty="0"/>
              <a:t>Visualization via web dashboard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6886FE-BEE2-EABC-2FB7-233C12E94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3" y="6041362"/>
            <a:ext cx="9372599" cy="365125"/>
          </a:xfrm>
        </p:spPr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30CFA8-9A4A-B6FF-E428-8578BC99C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5804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12F95-FC35-3365-A149-156DB5B76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SRS: Introduction and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D6B43-E5D5-9B43-6A73-E712818BE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r>
              <a:rPr lang="en-GB" sz="2000" dirty="0"/>
              <a:t>Describes functional and non-functional requirements.</a:t>
            </a:r>
          </a:p>
          <a:p>
            <a:r>
              <a:rPr lang="en-GB" sz="2000" dirty="0"/>
              <a:t>Serves as a reference for developers and evaluators.</a:t>
            </a:r>
          </a:p>
          <a:p>
            <a:r>
              <a:rPr lang="en-GB" sz="2000" dirty="0"/>
              <a:t>Defines system behaviour and constraints.</a:t>
            </a:r>
          </a:p>
          <a:p>
            <a:r>
              <a:rPr lang="en-GB" sz="2000" dirty="0"/>
              <a:t>Web-based financial distress prediction system.</a:t>
            </a:r>
          </a:p>
          <a:p>
            <a:r>
              <a:rPr lang="en-IN" sz="2000" dirty="0"/>
              <a:t>Supports multiple companies.</a:t>
            </a:r>
          </a:p>
          <a:p>
            <a:r>
              <a:rPr lang="en-IN" sz="2000" dirty="0"/>
              <a:t>Provides explainable AI insights.</a:t>
            </a:r>
          </a:p>
          <a:p>
            <a:r>
              <a:rPr lang="en-IN" sz="2000" dirty="0"/>
              <a:t>Generates downloadable reports.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715CBE-DCBC-62A6-E794-A23C817D5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3" y="6041362"/>
            <a:ext cx="8889999" cy="365125"/>
          </a:xfrm>
        </p:spPr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1A82B1-5D90-EBAB-E2E4-C9C097ED1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930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9686A-F575-A30D-BF2A-7A8440807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SRS: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A38E6-6608-4315-87D1-167F232BD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r>
              <a:rPr lang="en-IN" sz="2000" dirty="0"/>
              <a:t>Investors</a:t>
            </a:r>
          </a:p>
          <a:p>
            <a:r>
              <a:rPr lang="en-IN" sz="2000" dirty="0"/>
              <a:t>Financial analysts</a:t>
            </a:r>
          </a:p>
          <a:p>
            <a:r>
              <a:rPr lang="en-IN" sz="2000" dirty="0"/>
              <a:t>Researchers</a:t>
            </a:r>
          </a:p>
          <a:p>
            <a:r>
              <a:rPr lang="en-IN" sz="2000" dirty="0"/>
              <a:t>Students</a:t>
            </a:r>
          </a:p>
          <a:p>
            <a:r>
              <a:rPr lang="en-IN" sz="2000" dirty="0"/>
              <a:t>Risk management professionals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AAF850-0ED4-B3E5-C9AF-707D22DFA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3" y="6041362"/>
            <a:ext cx="8788399" cy="365125"/>
          </a:xfrm>
        </p:spPr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6F7D31-AB1C-267C-1D37-84C73D903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479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1AACD-BC0C-D6D9-DF2E-1702F4376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SRS: Operating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08F72-B7A2-E385-3A7F-6C58F2C62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r>
              <a:rPr lang="en-IN" sz="2000" dirty="0"/>
              <a:t>Web browser interface</a:t>
            </a:r>
          </a:p>
          <a:p>
            <a:r>
              <a:rPr lang="en-IN" sz="2000" dirty="0"/>
              <a:t>Flask backend server</a:t>
            </a:r>
          </a:p>
          <a:p>
            <a:r>
              <a:rPr lang="en-IN" sz="2000" dirty="0"/>
              <a:t>SQLite database</a:t>
            </a:r>
          </a:p>
          <a:p>
            <a:r>
              <a:rPr lang="en-GB" sz="2000" dirty="0"/>
              <a:t>Internet connection for live data</a:t>
            </a:r>
            <a:endParaRPr lang="en-IN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2565C0-B37B-87C4-1185-03DC1AFF9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9177866" cy="365125"/>
          </a:xfrm>
        </p:spPr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70DA24-6BED-4C5B-46B2-7F342570A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679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306DE-95CB-BCE6-AF9E-61079C014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SRS: 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4F09D-8B78-6C04-7AE5-A8518D5E1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r>
              <a:rPr lang="en-GB" sz="2000" dirty="0"/>
              <a:t>Select company and data source</a:t>
            </a:r>
          </a:p>
          <a:p>
            <a:r>
              <a:rPr lang="en-IN" sz="2000" dirty="0"/>
              <a:t>Fetch financial data</a:t>
            </a:r>
          </a:p>
          <a:p>
            <a:r>
              <a:rPr lang="en-IN" sz="2000" dirty="0"/>
              <a:t>Generate FDI score</a:t>
            </a:r>
          </a:p>
          <a:p>
            <a:r>
              <a:rPr lang="en-IN" sz="2000" dirty="0"/>
              <a:t>Display risk category</a:t>
            </a:r>
          </a:p>
          <a:p>
            <a:r>
              <a:rPr lang="en-IN" sz="2000" dirty="0"/>
              <a:t>Generate SHAP explanations</a:t>
            </a:r>
          </a:p>
          <a:p>
            <a:r>
              <a:rPr lang="en-IN" sz="2000" dirty="0"/>
              <a:t>Store prediction history</a:t>
            </a:r>
          </a:p>
          <a:p>
            <a:r>
              <a:rPr lang="en-IN" sz="2000" dirty="0"/>
              <a:t>Export reports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F545D7-3510-F344-D1DF-B59B90D2F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3" y="6041362"/>
            <a:ext cx="9245599" cy="365125"/>
          </a:xfrm>
        </p:spPr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A8EBFA-EAFA-9548-6C98-979A6F410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811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ADCB7-218B-D918-636D-44827EEE3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SRS: Non-Functional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78CAD-B4A0-0A30-8638-8C90E1B1B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r>
              <a:rPr lang="en-IN" sz="2000" dirty="0"/>
              <a:t>Fast response time</a:t>
            </a:r>
          </a:p>
          <a:p>
            <a:r>
              <a:rPr lang="en-IN" sz="2000" dirty="0"/>
              <a:t>High usability</a:t>
            </a:r>
          </a:p>
          <a:p>
            <a:r>
              <a:rPr lang="en-IN" sz="2000" dirty="0"/>
              <a:t>Reliable predictions</a:t>
            </a:r>
          </a:p>
          <a:p>
            <a:r>
              <a:rPr lang="en-IN" sz="2000" dirty="0"/>
              <a:t>Modular architecture</a:t>
            </a:r>
          </a:p>
          <a:p>
            <a:r>
              <a:rPr lang="en-IN" sz="2000" dirty="0"/>
              <a:t>Secure API communication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66F4B9-9D1F-1C0E-9F49-3B513F9C5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8923866" cy="365125"/>
          </a:xfrm>
        </p:spPr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4DEAA-3F19-B178-CDDF-A16F1C8F7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109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8A60B-6942-AC70-A0E9-F8A10032F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E4CB1-35CF-92E1-67CC-3876B3D3E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r>
              <a:rPr lang="en-IN" sz="2000" dirty="0"/>
              <a:t>Altman Z-Score, Ohlson O-Score</a:t>
            </a:r>
          </a:p>
          <a:p>
            <a:r>
              <a:rPr lang="en-IN" sz="2000" dirty="0"/>
              <a:t>Logistic regression models</a:t>
            </a:r>
          </a:p>
          <a:p>
            <a:r>
              <a:rPr lang="en-IN" sz="2000" dirty="0"/>
              <a:t>Random Forest, SVM, </a:t>
            </a:r>
            <a:r>
              <a:rPr lang="en-IN" sz="2000" dirty="0" err="1"/>
              <a:t>XGBoost</a:t>
            </a:r>
            <a:endParaRPr lang="en-IN" sz="2000" dirty="0"/>
          </a:p>
          <a:p>
            <a:r>
              <a:rPr lang="en-IN" sz="2000" dirty="0"/>
              <a:t>Explainable AI: SHAP, LIME</a:t>
            </a:r>
          </a:p>
          <a:p>
            <a:r>
              <a:rPr lang="en-GB" sz="2000" dirty="0"/>
              <a:t>Research gap: lack of transparency and real-time support</a:t>
            </a:r>
            <a:endParaRPr lang="en-IN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3DE83B-B203-DD53-E8E9-891FCAAC1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3" y="6041362"/>
            <a:ext cx="8932333" cy="365125"/>
          </a:xfrm>
        </p:spPr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62CE7-F910-4797-8377-356836A15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596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A9EC5-30BF-FAFC-7981-13EB210CC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Diagram (Context Flow Diagram)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CBCDF7A-79CF-0A4C-B0F3-53AC46175E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9425" y="1966913"/>
            <a:ext cx="5060085" cy="296068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AB9F5D-952E-2110-0229-BAF8461F1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D0764-B28F-410C-28AF-CB33336E2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797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E9D73-5EBD-E888-A098-12422B02D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Diagram (Level 1 DFD)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5B7CD42-C3C7-97AF-4CBA-0FEBDB370C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9329" y="1767878"/>
            <a:ext cx="8596312" cy="353232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0EA1BC-A184-D1F2-7C6F-16AD130F6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C3D867-1CAA-B886-E378-5F2AF8233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196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968B4-9D4A-E53B-A52A-419C29BB3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Activity Diagram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5DA14DA-3C2F-91C6-60FF-67D37763ED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5767" y="1400307"/>
            <a:ext cx="3639801" cy="4428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5C7CBD-D944-4475-058E-AD959F1DA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8728E6-5BAD-A4FA-4C00-46D6AAEFB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388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B8B12-2FBB-A1C1-44DE-22B5C13DD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Diagram (Use Case Diagram)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E5D3DA2-F835-EE80-771C-A3051DC0B7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44911" y="1270000"/>
            <a:ext cx="2061514" cy="453651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65D5AD-3E29-F1D1-A9F5-0987BC8CF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13897F-D60A-C7F9-2558-EFAC23C33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2312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BE9AA-A23F-70C9-DFCD-F85A823BC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Diagram (Sequence diagram)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91CA215-E706-F6C5-9007-61DE63BC8C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5399" y="1270000"/>
            <a:ext cx="6689534" cy="456658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120629-27EF-E0FC-3707-EDD020E10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D2E443-A2E7-4A2B-63AA-E60A7181A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1070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A0267-296C-87AD-96F2-F3D73CDA1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Diagram (ER Diagram)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4CBF813-4C7C-3F71-B8F7-E4BACF1C21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4955" y="1810544"/>
            <a:ext cx="3781425" cy="351472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0C984-3670-31E5-C901-5211E340C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7FD21B-085F-CE46-53B0-A01296FA7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8288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9BD43-CA20-B947-56DB-BE9D1030C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769D2-A79B-2C95-5465-5C9EFD745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r>
              <a:rPr lang="en-GB" sz="2000" dirty="0"/>
              <a:t>Unit testing of backend modules</a:t>
            </a:r>
          </a:p>
          <a:p>
            <a:r>
              <a:rPr lang="en-IN" sz="2000" dirty="0"/>
              <a:t>API testing</a:t>
            </a:r>
          </a:p>
          <a:p>
            <a:r>
              <a:rPr lang="en-GB" sz="2000" dirty="0"/>
              <a:t>System testing using sample data</a:t>
            </a:r>
          </a:p>
          <a:p>
            <a:r>
              <a:rPr lang="en-IN" sz="2000" dirty="0"/>
              <a:t>Validation using performance metrics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955517-A92B-9E91-C1EA-1D06ADD25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8898466" cy="365125"/>
          </a:xfrm>
        </p:spPr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6F615-A8DD-586E-147F-ED74BA56E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056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356FE-4456-84D0-2FF7-E5FFCC336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Implementation: 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51311-55BC-0E52-546E-F1AF0564A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r>
              <a:rPr lang="en-IN" sz="2000" dirty="0"/>
              <a:t>Frontend: React, Chart.js</a:t>
            </a:r>
          </a:p>
          <a:p>
            <a:r>
              <a:rPr lang="en-IN" sz="2000" dirty="0"/>
              <a:t>Backend: Flask, Python</a:t>
            </a:r>
          </a:p>
          <a:p>
            <a:r>
              <a:rPr lang="en-IN" sz="2000" dirty="0"/>
              <a:t>ML: Random Forest, </a:t>
            </a:r>
            <a:r>
              <a:rPr lang="en-IN" sz="2000" dirty="0" err="1"/>
              <a:t>XGBoost</a:t>
            </a:r>
            <a:endParaRPr lang="en-IN" sz="2000" dirty="0"/>
          </a:p>
          <a:p>
            <a:r>
              <a:rPr lang="en-IN" sz="2000" dirty="0"/>
              <a:t>Explainability: SHAP</a:t>
            </a:r>
          </a:p>
          <a:p>
            <a:r>
              <a:rPr lang="en-IN" sz="2000" dirty="0"/>
              <a:t>Database: SQLite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8B8FA8-2982-7632-4123-FDC1236AF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3" y="6041362"/>
            <a:ext cx="8805333" cy="365125"/>
          </a:xfrm>
        </p:spPr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0BC270-D3AB-8DB4-90E2-1A7194CAC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8010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0859C-A9B1-9481-6503-98397F957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Implementation: Prediction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5BF1E-0527-4F03-41F0-31F5856BD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r>
              <a:rPr lang="en-IN" sz="2000" dirty="0"/>
              <a:t>Input financial features</a:t>
            </a:r>
          </a:p>
          <a:p>
            <a:r>
              <a:rPr lang="en-IN" sz="2000" dirty="0"/>
              <a:t>Data preprocessing</a:t>
            </a:r>
          </a:p>
          <a:p>
            <a:r>
              <a:rPr lang="en-IN" sz="2000" dirty="0"/>
              <a:t>Model inference</a:t>
            </a:r>
          </a:p>
          <a:p>
            <a:r>
              <a:rPr lang="en-IN" sz="2000" dirty="0"/>
              <a:t>FDI score generation</a:t>
            </a:r>
          </a:p>
          <a:p>
            <a:r>
              <a:rPr lang="en-IN" sz="2000" dirty="0"/>
              <a:t>Risk classification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4EAAC6-2792-F697-344C-E75BD4D81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9203266" cy="365125"/>
          </a:xfrm>
        </p:spPr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FABF6E-9730-D0ED-37E1-A3EE9B887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2924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3FED9-155A-04E4-05F5-347D7DB04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Implementation: Explainability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526AB-149F-D795-D493-BB11AD514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SHAP </a:t>
            </a:r>
            <a:r>
              <a:rPr lang="en-IN" sz="2000" dirty="0" err="1"/>
              <a:t>TreeExplainer</a:t>
            </a:r>
            <a:r>
              <a:rPr lang="en-IN" sz="2000" dirty="0"/>
              <a:t> initialization</a:t>
            </a:r>
          </a:p>
          <a:p>
            <a:r>
              <a:rPr lang="en-IN" sz="2000" dirty="0"/>
              <a:t>Feature contribution calculation</a:t>
            </a:r>
          </a:p>
          <a:p>
            <a:r>
              <a:rPr lang="en-IN" sz="2000" dirty="0"/>
              <a:t>Ranking of top features</a:t>
            </a:r>
          </a:p>
          <a:p>
            <a:r>
              <a:rPr lang="en-IN" sz="2000" dirty="0"/>
              <a:t>Visualization on dashboard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D72C7-3B95-44F0-E7B9-C51CEFDAD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9025466" cy="365125"/>
          </a:xfrm>
        </p:spPr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22BD9A-50F3-2B8E-C848-653C0850A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2873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312AC-9ED2-C5CC-2792-881190188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Screenshot (Dashboard)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90BDAB-E23C-CF0C-1B2C-E00001147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62A637-E4AB-A8B6-CC32-EE6B3F418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24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3C4952-9C30-B7B2-891F-F161DAFA0B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1" b="31729"/>
          <a:stretch>
            <a:fillRect/>
          </a:stretch>
        </p:blipFill>
        <p:spPr>
          <a:xfrm>
            <a:off x="524934" y="1405467"/>
            <a:ext cx="8749068" cy="410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6764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012EF-5FBD-2608-B8E8-512A15C7D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Screenshot (</a:t>
            </a:r>
            <a:r>
              <a:rPr lang="en-IN" dirty="0"/>
              <a:t>SHAP Feature Importance)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0689C72-05F5-0E65-B19E-E82570A1DE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9" t="10808" r="13437" b="25858"/>
          <a:stretch>
            <a:fillRect/>
          </a:stretch>
        </p:blipFill>
        <p:spPr>
          <a:xfrm>
            <a:off x="821267" y="1422399"/>
            <a:ext cx="7668710" cy="4301067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EF8E4-10FA-5D00-85F7-7D6C5CF1F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2E23B1-57DD-78E9-EF52-60C9AA35B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425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1E724-3ECC-E51D-28C5-C6289D819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Screenshot (Live data panel)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7C3A411-0FF2-B1B2-EEB1-DD6D3ED723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" t="12829" r="12911" b="16278"/>
          <a:stretch>
            <a:fillRect/>
          </a:stretch>
        </p:blipFill>
        <p:spPr>
          <a:xfrm>
            <a:off x="643318" y="1413933"/>
            <a:ext cx="8630684" cy="403013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C90B98-0B22-26A9-623E-351B6F5DD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7AEA24-5FF2-E524-5DA5-03078DFFD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0851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610B3-A2E6-812B-4EF6-6747A7436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Screenshot (</a:t>
            </a:r>
            <a:r>
              <a:rPr lang="en-IN" dirty="0"/>
              <a:t>Prediction Report (PDF)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E0D837B-AE35-FDDB-3CF3-F227867D2F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67" b="11698"/>
          <a:stretch>
            <a:fillRect/>
          </a:stretch>
        </p:blipFill>
        <p:spPr>
          <a:xfrm>
            <a:off x="523394" y="1456266"/>
            <a:ext cx="8529324" cy="3945467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3BFBBD-7541-D2C1-9801-078E69C32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7020FD-FF36-BEDD-4720-CDE5174BB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9111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6826B-5DEB-2EA8-C6D9-44C600484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Screenshot (Companies overview)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56CA403-F57C-1132-4FF8-B62E7FDCF7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t="6738" r="-5" b="48981"/>
          <a:stretch>
            <a:fillRect/>
          </a:stretch>
        </p:blipFill>
        <p:spPr>
          <a:xfrm>
            <a:off x="451542" y="1752600"/>
            <a:ext cx="8907127" cy="2794000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2A8CB-9F15-F9E3-4E7C-A3F3A34DF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Department of Computer Applications                                 Project Presentation                          SJEC,Mangalore 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6BA68-097E-7102-4775-FD14F2863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9094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5C048-5895-E92C-DAC3-A2006651E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BE726-1B12-1744-19F1-C420FA4BA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930400"/>
            <a:ext cx="8596668" cy="3880773"/>
          </a:xfrm>
        </p:spPr>
        <p:txBody>
          <a:bodyPr>
            <a:normAutofit/>
          </a:bodyPr>
          <a:lstStyle/>
          <a:p>
            <a:r>
              <a:rPr lang="en-GB" sz="2000" dirty="0"/>
              <a:t>FinSentinal achieves early distress prediction</a:t>
            </a:r>
          </a:p>
          <a:p>
            <a:r>
              <a:rPr lang="en-GB" sz="2000" dirty="0"/>
              <a:t>Combines ML, explainability, and visualization</a:t>
            </a:r>
          </a:p>
          <a:p>
            <a:r>
              <a:rPr lang="en-GB" sz="2000" dirty="0"/>
              <a:t>Demonstrates feasibility of AI-based financial risk systems</a:t>
            </a:r>
          </a:p>
          <a:p>
            <a:r>
              <a:rPr lang="en-GB" sz="2000" dirty="0"/>
              <a:t>Provides foundation for future expansion</a:t>
            </a:r>
            <a:endParaRPr lang="en-IN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4F55F6-586D-DF1D-EA45-42000E6D7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3" y="6041362"/>
            <a:ext cx="9474199" cy="365125"/>
          </a:xfrm>
        </p:spPr>
        <p:txBody>
          <a:bodyPr/>
          <a:lstStyle/>
          <a:p>
            <a:r>
              <a:rPr lang="en-GB" dirty="0"/>
              <a:t>Department of Computer Applications                              Project Presentation                                   </a:t>
            </a:r>
            <a:r>
              <a:rPr lang="en-GB" dirty="0" err="1"/>
              <a:t>SJEC,Mangalore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29556D-052F-1EAC-FA39-94A815298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5ED7-7D55-4992-A695-485D0D7E2A1D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3177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1AE21-F6F9-9492-22F4-BAEC149AD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664" y="2768600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GB" sz="6600" dirty="0"/>
              <a:t>THANK YOU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295710139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380</TotalTime>
  <Words>862</Words>
  <Application>Microsoft Office PowerPoint</Application>
  <PresentationFormat>Widescreen</PresentationFormat>
  <Paragraphs>180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Trebuchet MS</vt:lpstr>
      <vt:lpstr>Wingdings 3</vt:lpstr>
      <vt:lpstr>Facet</vt:lpstr>
      <vt:lpstr>FinSentinal – Financial Distress Early Warning System (FDEWS)</vt:lpstr>
      <vt:lpstr>Introduction </vt:lpstr>
      <vt:lpstr>Background and Motivation</vt:lpstr>
      <vt:lpstr>Abstract</vt:lpstr>
      <vt:lpstr>Objectives</vt:lpstr>
      <vt:lpstr>Features of the Project</vt:lpstr>
      <vt:lpstr>Methodology</vt:lpstr>
      <vt:lpstr>SRS: Introduction and Scope</vt:lpstr>
      <vt:lpstr>SRS: Users</vt:lpstr>
      <vt:lpstr>SRS: Operating Environment</vt:lpstr>
      <vt:lpstr>SRS: Functional Requirements</vt:lpstr>
      <vt:lpstr>SRS: Non-Functional Requirements</vt:lpstr>
      <vt:lpstr>LITERATURE REVIEW</vt:lpstr>
      <vt:lpstr>Diagram (Context Flow Diagram)</vt:lpstr>
      <vt:lpstr>Diagram (Level 1 DFD)</vt:lpstr>
      <vt:lpstr>Activity Diagram</vt:lpstr>
      <vt:lpstr>Diagram (Use Case Diagram)</vt:lpstr>
      <vt:lpstr>Diagram (Sequence diagram)</vt:lpstr>
      <vt:lpstr>Diagram (ER Diagram)</vt:lpstr>
      <vt:lpstr>TESTING</vt:lpstr>
      <vt:lpstr>Implementation: Technology Stack</vt:lpstr>
      <vt:lpstr>Implementation: Prediction Algorithm</vt:lpstr>
      <vt:lpstr>Implementation: Explainability Module</vt:lpstr>
      <vt:lpstr>Screenshot (Dashboard)</vt:lpstr>
      <vt:lpstr>Screenshot (SHAP Feature Importance)</vt:lpstr>
      <vt:lpstr>Screenshot (Live data panel)</vt:lpstr>
      <vt:lpstr>Screenshot (Prediction Report (PDF)</vt:lpstr>
      <vt:lpstr>Screenshot (Companies overview)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 s</dc:creator>
  <cp:lastModifiedBy>vishnu s</cp:lastModifiedBy>
  <cp:revision>9</cp:revision>
  <dcterms:created xsi:type="dcterms:W3CDTF">2026-01-19T07:06:33Z</dcterms:created>
  <dcterms:modified xsi:type="dcterms:W3CDTF">2026-01-19T14:39:44Z</dcterms:modified>
</cp:coreProperties>
</file>