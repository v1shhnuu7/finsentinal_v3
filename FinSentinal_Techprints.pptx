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26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3768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77440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A3D8F">
              <a:alpha val="60000"/>
            </a:srgbClr>
          </a:solidFill>
          <a:ln w="12700">
            <a:solidFill>
              <a:srgbClr val="2A3D8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274320"/>
            <a:ext cx="2651760" cy="5029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0" y="274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TECHPRINTS 10.0  |  MAY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FinSentinal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Distress Early Warning System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4320" y="2395728"/>
            <a:ext cx="850392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Machine Learning and Neural Network Models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" y="32004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SriVishnu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Pejathaya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Applications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Joseph Engineering College, Mangaluru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A3D8F"/>
          </a:solidFill>
          <a:ln w="12700">
            <a:solidFill>
              <a:srgbClr val="2A3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FinSentinal | SJEC Mangaluru | Techprints 10.0 | May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347472" cy="347472"/>
          </a:xfrm>
          <a:prstGeom prst="ellipse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91440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financial distress causes cascading economic damage to investors, creditors, and employees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" y="1709928"/>
            <a:ext cx="347472" cy="347472"/>
          </a:xfrm>
          <a:prstGeom prst="ellipse">
            <a:avLst/>
          </a:prstGeom>
          <a:solidFill>
            <a:srgbClr val="CC7700"/>
          </a:solidFill>
          <a:ln w="12700">
            <a:solidFill>
              <a:srgbClr val="CC7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709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1618488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models (Altman Z-Score, 1968) use only 5 linear ratios — fail on complex non-linear patterns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2414016"/>
            <a:ext cx="347472" cy="347472"/>
          </a:xfrm>
          <a:prstGeom prst="ellipse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414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232257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ML systems compare only one or two models with no neural network baseline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3118104"/>
            <a:ext cx="347472" cy="347472"/>
          </a:xfrm>
          <a:prstGeom prst="ellipse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118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026664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lack explainability — black-box predictions are not trusted by financial decision-makers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8600" y="3822192"/>
            <a:ext cx="347472" cy="347472"/>
          </a:xfrm>
          <a:prstGeom prst="ellipse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373075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real-time, interactive early warning dashboard exists for practitioners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8600" y="4572000"/>
            <a:ext cx="86868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45720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"Early detection can prevent bankruptcy cascades — but requires smarter, explainable models."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Review &amp; Research Gap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A3D8F"/>
          </a:solidFill>
          <a:ln w="12700">
            <a:solidFill>
              <a:srgbClr val="2A3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FinSentinal | SJEC Mangaluru | Techprints 10.0 | May 2026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68680"/>
          <a:ext cx="8686800" cy="318211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XAI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Altman Z-Score (1968)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— Min &amp; Lee (2005)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— Barboza et al. (2017)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— Shi et al. (2022)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F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FinSentinal ★ (This Work)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F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F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F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F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28600" y="4480560"/>
            <a:ext cx="8686800" cy="320040"/>
          </a:xfrm>
          <a:prstGeom prst="rect">
            <a:avLst/>
          </a:prstGeom>
          <a:solidFill>
            <a:srgbClr val="2A3D8F"/>
          </a:solidFill>
          <a:ln w="12700">
            <a:solidFill>
              <a:srgbClr val="2A3D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44805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No existing study combines 4-model comparison + neural network + SHAP explainability + real-time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FinSentinal 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A3D8F"/>
          </a:solidFill>
          <a:ln w="12700">
            <a:solidFill>
              <a:srgbClr val="2A3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FinSentinal | SJEC Mangaluru | Techprints 10.0 | May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868680"/>
            <a:ext cx="265176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68680"/>
            <a:ext cx="265176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868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417320"/>
            <a:ext cx="24688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1911096"/>
            <a:ext cx="24688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Financial Ratios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2404872"/>
            <a:ext cx="24688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Stock Feed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2898648"/>
            <a:ext cx="24688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(AAPL / GOOG / MSFT)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868680"/>
            <a:ext cx="265176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3A5DB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868680"/>
            <a:ext cx="2651760" cy="457200"/>
          </a:xfrm>
          <a:prstGeom prst="rect">
            <a:avLst/>
          </a:prstGeom>
          <a:solidFill>
            <a:srgbClr val="3A5DB5"/>
          </a:solidFill>
          <a:ln w="12700">
            <a:solidFill>
              <a:srgbClr val="3A5D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868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1417320"/>
            <a:ext cx="24688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 Python Backend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1911096"/>
            <a:ext cx="24688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(4 types)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2404872"/>
            <a:ext cx="24688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37560" y="2898648"/>
            <a:ext cx="24688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868680"/>
            <a:ext cx="265176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3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868680"/>
            <a:ext cx="2651760" cy="4572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868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1417320"/>
            <a:ext cx="24688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Dashboard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1911096"/>
            <a:ext cx="24688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 &amp; Risk Display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2404872"/>
            <a:ext cx="24688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Explanations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2898648"/>
            <a:ext cx="24688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CSV Export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852928" y="2240280"/>
            <a:ext cx="384048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52928" y="20116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916168" y="2240280"/>
            <a:ext cx="384048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16168" y="20116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82880" y="3749040"/>
            <a:ext cx="50292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82880" y="37490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FDI = P(Distress | x) = fθ(x)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349240" y="3749040"/>
            <a:ext cx="1097280" cy="594360"/>
          </a:xfrm>
          <a:prstGeom prst="rect">
            <a:avLst/>
          </a:prstGeom>
          <a:solidFill>
            <a:srgbClr val="C6F6D5"/>
          </a:solidFill>
          <a:ln w="19050">
            <a:solidFill>
              <a:srgbClr val="1A6B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9240" y="3749040"/>
            <a:ext cx="10972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0.0–0.4
</a:t>
            </a:r>
            <a:r>
              <a:rPr lang="en-US" sz="10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92240" y="3749040"/>
            <a:ext cx="1097280" cy="594360"/>
          </a:xfrm>
          <a:prstGeom prst="rect">
            <a:avLst/>
          </a:prstGeom>
          <a:solidFill>
            <a:srgbClr val="FEFCBF"/>
          </a:solidFill>
          <a:ln w="19050">
            <a:solidFill>
              <a:srgbClr val="7B4F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749040"/>
            <a:ext cx="10972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0.4–0.7
</a:t>
            </a:r>
            <a:r>
              <a:rPr lang="en-US" sz="1000" b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635240" y="3749040"/>
            <a:ext cx="1097280" cy="594360"/>
          </a:xfrm>
          <a:prstGeom prst="rect">
            <a:avLst/>
          </a:prstGeom>
          <a:solidFill>
            <a:srgbClr val="FED7D7"/>
          </a:solidFill>
          <a:ln w="19050">
            <a:solidFill>
              <a:srgbClr val="9B23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35240" y="3749040"/>
            <a:ext cx="10972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0.7–1.0
</a:t>
            </a:r>
            <a:r>
              <a:rPr lang="en-US" sz="1000" b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Dataset: Taiwan Bankruptcy (TEJ)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A3D8F"/>
          </a:solidFill>
          <a:ln w="12700">
            <a:solidFill>
              <a:srgbClr val="2A3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FinSentinal | SJEC Mangaluru | Techprints 10.0 | May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868680"/>
            <a:ext cx="201168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68680"/>
            <a:ext cx="201168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941832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6,819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82880" y="1584655"/>
            <a:ext cx="2011680" cy="46908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868680"/>
            <a:ext cx="201168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3A5DB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77440" y="868680"/>
            <a:ext cx="2011680" cy="54864"/>
          </a:xfrm>
          <a:prstGeom prst="rect">
            <a:avLst/>
          </a:prstGeom>
          <a:solidFill>
            <a:srgbClr val="3A5DB5"/>
          </a:solidFill>
          <a:ln w="12700">
            <a:solidFill>
              <a:srgbClr val="3A5D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941832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A5D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377440" y="1584655"/>
            <a:ext cx="2011680" cy="46908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/ Features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868680"/>
            <a:ext cx="201168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9B233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868680"/>
            <a:ext cx="2011680" cy="54864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941832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B23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72000" y="1584655"/>
            <a:ext cx="2011680" cy="46908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Bankrupt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(3.23%)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66560" y="868680"/>
            <a:ext cx="201168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3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868680"/>
            <a:ext cx="2011680" cy="54864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941832"/>
            <a:ext cx="2011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6,599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766560" y="1584655"/>
            <a:ext cx="2011680" cy="46908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Non-Bankrupt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(96.77%)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" y="2212848"/>
            <a:ext cx="4206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82880" y="2212848"/>
            <a:ext cx="42062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22128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" y="2633472"/>
            <a:ext cx="397764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Remove features with &gt;50% missing values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Median imputation for remaining NaN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StandardScaler for LogReg and MLP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Stratified 80/20 train-test split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Class imbalance: balanced weights / scale_pos_weight=29.99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2212848"/>
            <a:ext cx="43891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5DB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2212848"/>
            <a:ext cx="4389120" cy="347472"/>
          </a:xfrm>
          <a:prstGeom prst="rect">
            <a:avLst/>
          </a:prstGeom>
          <a:solidFill>
            <a:srgbClr val="3A5DB5"/>
          </a:solidFill>
          <a:ln w="12700">
            <a:solidFill>
              <a:srgbClr val="3A5D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221284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2633472"/>
            <a:ext cx="416052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ROA Variants (A, B, C) — Profitability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Gross &amp; Operating Margins — Efficiency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Current &amp; Quick Ratio — Liquidity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Debt Ratios &amp; Borrowing Dependency — Leverage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EPS &amp; Earnings Growth — Market Performance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Interest Rates &amp; Cash Flow — Solvency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— Four Models Compared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A3D8F"/>
          </a:solidFill>
          <a:ln w="12700">
            <a:solidFill>
              <a:srgbClr val="2A3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FinSentinal | SJEC Mangaluru | Techprints 10.0 | May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868680"/>
            <a:ext cx="201168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68680"/>
            <a:ext cx="20116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28016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" y="868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= balanced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0.1, LBFGS solver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 = 1000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4133088"/>
            <a:ext cx="1828800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133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95728" y="868680"/>
            <a:ext cx="201168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3A5DB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395728" y="868680"/>
            <a:ext cx="2011680" cy="502920"/>
          </a:xfrm>
          <a:prstGeom prst="rect">
            <a:avLst/>
          </a:prstGeom>
          <a:solidFill>
            <a:srgbClr val="3A5DB5"/>
          </a:solidFill>
          <a:ln w="12700">
            <a:solidFill>
              <a:srgbClr val="3A5D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81528" y="128016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5D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81528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5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95728" y="868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87168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decision trees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87168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10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87168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= balanced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87168" y="4133088"/>
            <a:ext cx="1828800" cy="201168"/>
          </a:xfrm>
          <a:prstGeom prst="rect">
            <a:avLst/>
          </a:prstGeom>
          <a:solidFill>
            <a:srgbClr val="3A5DB5"/>
          </a:solidFill>
          <a:ln w="12700">
            <a:solidFill>
              <a:srgbClr val="3A5D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87168" y="4133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ensemble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08576" y="868680"/>
            <a:ext cx="201168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7B2D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08576" y="868680"/>
            <a:ext cx="2011680" cy="502920"/>
          </a:xfrm>
          <a:prstGeom prst="rect">
            <a:avLst/>
          </a:prstGeom>
          <a:solidFill>
            <a:srgbClr val="7B2D00"/>
          </a:solidFill>
          <a:ln w="12700">
            <a:solidFill>
              <a:srgbClr val="7B2D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94376" y="128016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B2D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94376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2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08576" y="868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0016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trees, lr = 0.05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0016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00016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= 29.99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0016" y="4133088"/>
            <a:ext cx="1828800" cy="201168"/>
          </a:xfrm>
          <a:prstGeom prst="rect">
            <a:avLst/>
          </a:prstGeom>
          <a:solidFill>
            <a:srgbClr val="7B2D00"/>
          </a:solidFill>
          <a:ln w="12700">
            <a:solidFill>
              <a:srgbClr val="7B2D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0016" y="4133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★ Best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21424" y="868680"/>
            <a:ext cx="201168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3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821424" y="868680"/>
            <a:ext cx="2011680" cy="5029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07224" y="128016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A6B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07224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821424" y="868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Neural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12864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(128, 64, 32)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12864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Adam optimizer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12864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912864" y="4133088"/>
            <a:ext cx="1828800" cy="20116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12864" y="4133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baseline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82880" y="4407408"/>
            <a:ext cx="87782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2880" y="44074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Accuracy  |  Precision  |  Recall  |  F1-Score  |  ROC-AUC  |  5-Fold Cross-Validation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— Model Performance Comparison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A3D8F"/>
          </a:solidFill>
          <a:ln w="12700">
            <a:solidFill>
              <a:srgbClr val="2A3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FinSentinal | SJEC Mangaluru | Techprints 10.0 | May 2026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68680"/>
          <a:ext cx="8686800" cy="32918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88.27%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96.64%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88.27%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91.56%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94.29%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 ★  BEST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95.32%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Neural 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228600" y="4206240"/>
            <a:ext cx="86868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" y="420624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Finding: XGBoost leads all models — Accuracy 96.92%  |  F1 97.04%  |  ROC-AUC 95.32%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Comparison — All Metrics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A3D8F"/>
          </a:solidFill>
          <a:ln w="12700">
            <a:solidFill>
              <a:srgbClr val="2A3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FinSentinal | SJEC Mangaluru | Techprints 10.0 | May 2026</a:t>
            </a:r>
            <a:endParaRPr lang="en-US" sz="900" dirty="0"/>
          </a:p>
        </p:txBody>
      </p:sp>
      <p:pic>
        <p:nvPicPr>
          <p:cNvPr id="7" name="Image 0" descr="C:\Users\Admin\Documents\Research_FDEWS\figures\model_comparison_ba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8229600" cy="3520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8600" y="4462272"/>
            <a:ext cx="868680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3A5D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4462272"/>
            <a:ext cx="8686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consistently outperforms. MLP matches accuracy but trails ROC-AUC (85.73% vs 95.32%) — revealing weaker discrimination for the rare bankrupt class.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 Explainability — Why Did the Model Predict Distress?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A3D8F"/>
          </a:solidFill>
          <a:ln w="12700">
            <a:solidFill>
              <a:srgbClr val="2A3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FinSentinal | SJEC Mangaluru | Techprints 10.0 | May 2026</a:t>
            </a:r>
            <a:endParaRPr lang="en-US" sz="900" dirty="0"/>
          </a:p>
        </p:txBody>
      </p:sp>
      <p:pic>
        <p:nvPicPr>
          <p:cNvPr id="7" name="Image 0" descr="C:\Users\Admin\Documents\Research_FDEWS\figures\shap_ba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868680"/>
            <a:ext cx="4846320" cy="3657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212080" y="868680"/>
            <a:ext cx="3749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5DB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212080" y="868680"/>
            <a:ext cx="3749040" cy="365760"/>
          </a:xfrm>
          <a:prstGeom prst="rect">
            <a:avLst/>
          </a:prstGeom>
          <a:solidFill>
            <a:srgbClr val="3A5DB5"/>
          </a:solidFill>
          <a:ln w="12700">
            <a:solidFill>
              <a:srgbClr val="3A5D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2080" y="868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 of Financial Distress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257800" y="1325880"/>
            <a:ext cx="548640" cy="457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57800" y="1325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0.7378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70448" y="1325880"/>
            <a:ext cx="2971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Interest Rate
</a:t>
            </a: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interest = debt pressure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257800" y="1947672"/>
            <a:ext cx="548640" cy="457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57800" y="19476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0.6352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70448" y="1947672"/>
            <a:ext cx="2971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Debt / Net Worth
</a:t>
            </a: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leverage = over-indebted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257800" y="2569464"/>
            <a:ext cx="548640" cy="457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57800" y="25694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0.5318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70448" y="2569464"/>
            <a:ext cx="2971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 Dependency
</a:t>
            </a: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reliance on external debt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257800" y="3191256"/>
            <a:ext cx="548640" cy="457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57800" y="31912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0.5152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870448" y="3191256"/>
            <a:ext cx="2971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Earnings / Assets
</a:t>
            </a: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retention = reduced buffer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257800" y="3813048"/>
            <a:ext cx="548640" cy="457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57800" y="38130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0.4636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870448" y="3813048"/>
            <a:ext cx="2971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Ratio
</a:t>
            </a: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liquidity = can't pay bills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212080" y="4462272"/>
            <a:ext cx="37490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12080" y="44622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findings align with financial theory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 Curve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A3D8F"/>
          </a:solidFill>
          <a:ln w="12700">
            <a:solidFill>
              <a:srgbClr val="2A3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FinSentinal | SJEC Mangaluru | Techprints 10.0 | May 2026</a:t>
            </a:r>
            <a:endParaRPr lang="en-US" sz="900" dirty="0"/>
          </a:p>
        </p:txBody>
      </p:sp>
      <p:pic>
        <p:nvPicPr>
          <p:cNvPr id="7" name="Image 0" descr="C:\Users\Admin\Documents\Research_FDEWS\figures\roc_curv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868680"/>
            <a:ext cx="5029200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94960" y="960120"/>
            <a:ext cx="356616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3A5DB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94960" y="960120"/>
            <a:ext cx="640080" cy="658368"/>
          </a:xfrm>
          <a:prstGeom prst="rect">
            <a:avLst/>
          </a:prstGeom>
          <a:solidFill>
            <a:srgbClr val="3A5DB5"/>
          </a:solidFill>
          <a:ln w="12700">
            <a:solidFill>
              <a:srgbClr val="3A5D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94960" y="96012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0.953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80760" y="960120"/>
            <a:ext cx="28346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5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
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— highest discrimination between classes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94960" y="1764792"/>
            <a:ext cx="356616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94960" y="1764792"/>
            <a:ext cx="64008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94960" y="176479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0.943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080760" y="1764792"/>
            <a:ext cx="28346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
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second — stable and robust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394960" y="2569464"/>
            <a:ext cx="356616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7B4F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394960" y="2569464"/>
            <a:ext cx="640080" cy="658368"/>
          </a:xfrm>
          <a:prstGeom prst="rect">
            <a:avLst/>
          </a:prstGeom>
          <a:solidFill>
            <a:srgbClr val="7B4F00"/>
          </a:solidFill>
          <a:ln w="12700">
            <a:solidFill>
              <a:srgbClr val="7B4F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94960" y="256946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080760" y="2569464"/>
            <a:ext cx="28346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
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for a linear model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394960" y="3374136"/>
            <a:ext cx="3566160" cy="658368"/>
          </a:xfrm>
          <a:prstGeom prst="rect">
            <a:avLst/>
          </a:prstGeom>
          <a:solidFill>
            <a:srgbClr val="FFFFFF"/>
          </a:solidFill>
          <a:ln w="25400">
            <a:solidFill>
              <a:srgbClr val="9B233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394960" y="3374136"/>
            <a:ext cx="640080" cy="658368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94960" y="337413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0.857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080760" y="3374136"/>
            <a:ext cx="28346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Neural Net
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AUC despite high accuracy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394960" y="4251960"/>
            <a:ext cx="3566160" cy="502920"/>
          </a:xfrm>
          <a:prstGeom prst="rect">
            <a:avLst/>
          </a:prstGeom>
          <a:solidFill>
            <a:srgbClr val="FFF8DC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94960" y="4251960"/>
            <a:ext cx="3566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financial risk, high AUC matters more than accuracy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missing a bankruptcy is far costlier than a false alarm.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FinSentinal vs Existing Approaches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A3D8F"/>
          </a:solidFill>
          <a:ln w="12700">
            <a:solidFill>
              <a:srgbClr val="2A3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FinSentinal | SJEC Mangaluru | Techprints 10.0 | May 2026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68680"/>
          <a:ext cx="8686800" cy="340156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Altman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(2005)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FinSentinal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Multi-Model Comparison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3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3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Explainability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3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3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4681728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A3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FinSentinal is the only system combining all five capabilities.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685800"/>
            <a:ext cx="868680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4206240" cy="3566160"/>
          </a:xfrm>
          <a:prstGeom prst="rect">
            <a:avLst/>
          </a:prstGeom>
          <a:solidFill>
            <a:srgbClr val="0A154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77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234440"/>
            <a:ext cx="219456" cy="21945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34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188720"/>
            <a:ext cx="37490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Acc 96.92%  |  F1 97.04%  |  AUC 95.32%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1764792"/>
            <a:ext cx="219456" cy="21945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7647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1719072"/>
            <a:ext cx="37490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 outperform linear models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295144"/>
            <a:ext cx="219456" cy="21945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2951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2249424"/>
            <a:ext cx="37490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matches accuracy but trails on rare-class detection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2825496"/>
            <a:ext cx="219456" cy="21945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8254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" y="2779776"/>
            <a:ext cx="37490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Interest rate, leverage, and liquidity are top predictors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3355848"/>
            <a:ext cx="219456" cy="21945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3558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3310128"/>
            <a:ext cx="37490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FinSentinal: real-time, explainable, multi-model FDEWS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4251960" cy="3566160"/>
          </a:xfrm>
          <a:prstGeom prst="rect">
            <a:avLst/>
          </a:prstGeom>
          <a:solidFill>
            <a:srgbClr val="0A1540"/>
          </a:solidFill>
          <a:ln w="12700">
            <a:solidFill>
              <a:srgbClr val="3A5D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77724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73168" y="1261872"/>
            <a:ext cx="201168" cy="201168"/>
          </a:xfrm>
          <a:prstGeom prst="rect">
            <a:avLst/>
          </a:prstGeom>
          <a:solidFill>
            <a:srgbClr val="3A5DB5"/>
          </a:solidFill>
          <a:ln w="12700">
            <a:solidFill>
              <a:srgbClr val="3A5D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1261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1216152"/>
            <a:ext cx="37947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macroeconomic indicators (GDP, rate cycles)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73168" y="1783080"/>
            <a:ext cx="201168" cy="201168"/>
          </a:xfrm>
          <a:prstGeom prst="rect">
            <a:avLst/>
          </a:prstGeom>
          <a:solidFill>
            <a:srgbClr val="3A5DB5"/>
          </a:solidFill>
          <a:ln w="12700">
            <a:solidFill>
              <a:srgbClr val="3A5D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1783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1737360"/>
            <a:ext cx="37947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sentiment analysis from financial news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73168" y="2304288"/>
            <a:ext cx="201168" cy="201168"/>
          </a:xfrm>
          <a:prstGeom prst="rect">
            <a:avLst/>
          </a:prstGeom>
          <a:solidFill>
            <a:srgbClr val="3A5DB5"/>
          </a:solidFill>
          <a:ln w="12700">
            <a:solidFill>
              <a:srgbClr val="3A5D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2304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2258568"/>
            <a:ext cx="37947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MLP with LSTM for temporal modeling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73168" y="2825496"/>
            <a:ext cx="201168" cy="201168"/>
          </a:xfrm>
          <a:prstGeom prst="rect">
            <a:avLst/>
          </a:prstGeom>
          <a:solidFill>
            <a:srgbClr val="3A5DB5"/>
          </a:solidFill>
          <a:ln w="12700">
            <a:solidFill>
              <a:srgbClr val="3A5D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28254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2779776"/>
            <a:ext cx="37947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for real-time scalability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73168" y="3346704"/>
            <a:ext cx="201168" cy="201168"/>
          </a:xfrm>
          <a:prstGeom prst="rect">
            <a:avLst/>
          </a:prstGeom>
          <a:solidFill>
            <a:srgbClr val="3A5DB5"/>
          </a:solidFill>
          <a:ln w="12700">
            <a:solidFill>
              <a:srgbClr val="3A5DB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33467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0" y="3300984"/>
            <a:ext cx="37947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Scopus-indexed journal publication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1540"/>
          </a:solidFill>
          <a:ln w="12700">
            <a:solidFill>
              <a:srgbClr val="0A15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" y="44805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C5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FinSentinal advances financial distress prediction through rigorous benchmarking, neural network integration, and explainable AI.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28600" y="48188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Applications  |  SJEC Mangaluru  |  Techprints 10.0  |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1069</Words>
  <Application>Microsoft Office PowerPoint</Application>
  <PresentationFormat>On-screen Show (16:9)</PresentationFormat>
  <Paragraphs>276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FinSentinal: Financial Distress Early Warning System</dc:title>
  <dc:subject>PptxGenJS Presentation</dc:subject>
  <dc:creator>FinSentinal Research</dc:creator>
  <cp:lastModifiedBy>beatz shadow</cp:lastModifiedBy>
  <cp:revision>2</cp:revision>
  <dcterms:created xsi:type="dcterms:W3CDTF">2026-05-05T17:36:18Z</dcterms:created>
  <dcterms:modified xsi:type="dcterms:W3CDTF">2026-05-05T17:53:26Z</dcterms:modified>
</cp:coreProperties>
</file>